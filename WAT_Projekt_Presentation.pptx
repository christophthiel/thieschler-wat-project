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06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A94871E-96FC-4ADE-815B-41A636E34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de-DE" sz="6600" err="1"/>
              <a:t>opencloud-eu</a:t>
            </a:r>
            <a:r>
              <a:rPr lang="de-DE" sz="6600"/>
              <a:t>/web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de-DE"/>
              <a:t>von Christoph Thiel und Michel Tischler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5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logo.svg">
            <a:extLst>
              <a:ext uri="{FF2B5EF4-FFF2-40B4-BE49-F238E27FC236}">
                <a16:creationId xmlns:a16="http://schemas.microsoft.com/office/drawing/2014/main" id="{A5D76A56-38D3-97D9-2FA7-B0775ACA4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81544" y="1267079"/>
            <a:ext cx="4087368" cy="408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49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B3B57B-59B6-BCD3-8464-B355E223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Was ist OpenCloud?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2D8CB3-76DE-FED2-DEF9-88D97EEF5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/>
              <a:t>Alternative zu Google Drive, OneDrive, usw.</a:t>
            </a:r>
          </a:p>
          <a:p>
            <a:r>
              <a:rPr lang="de-AT" sz="2200"/>
              <a:t>Quelloffen</a:t>
            </a:r>
          </a:p>
          <a:p>
            <a:r>
              <a:rPr lang="de-AT" sz="2200"/>
              <a:t>Selbst bereitstellbar</a:t>
            </a:r>
          </a:p>
          <a:p>
            <a:r>
              <a:rPr lang="de-AT" sz="2200"/>
              <a:t>Fork von OwnCloud</a:t>
            </a:r>
          </a:p>
          <a:p>
            <a:endParaRPr lang="de-AT" sz="2200"/>
          </a:p>
        </p:txBody>
      </p:sp>
      <p:pic>
        <p:nvPicPr>
          <p:cNvPr id="7" name="Picture 6" descr="VueJS | Tools &amp; Frameworks | Technologie | JOSHMARTIN">
            <a:extLst>
              <a:ext uri="{FF2B5EF4-FFF2-40B4-BE49-F238E27FC236}">
                <a16:creationId xmlns:a16="http://schemas.microsoft.com/office/drawing/2014/main" id="{3E01AC6F-478D-BA67-7DBA-8067F7B7A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46" y="4496519"/>
            <a:ext cx="1679755" cy="1679755"/>
          </a:xfrm>
          <a:prstGeom prst="rect">
            <a:avLst/>
          </a:prstGeom>
        </p:spPr>
      </p:pic>
      <p:pic>
        <p:nvPicPr>
          <p:cNvPr id="9" name="Graphic 8" descr="Vitest logo">
            <a:extLst>
              <a:ext uri="{FF2B5EF4-FFF2-40B4-BE49-F238E27FC236}">
                <a16:creationId xmlns:a16="http://schemas.microsoft.com/office/drawing/2014/main" id="{361DD863-C4EC-1DD5-5126-6D87E53DE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47193" y="5825676"/>
            <a:ext cx="2058178" cy="248308"/>
          </a:xfrm>
          <a:prstGeom prst="rect">
            <a:avLst/>
          </a:prstGeom>
        </p:spPr>
      </p:pic>
      <p:pic>
        <p:nvPicPr>
          <p:cNvPr id="10" name="Picture 9" descr="playwright gravatar">
            <a:extLst>
              <a:ext uri="{FF2B5EF4-FFF2-40B4-BE49-F238E27FC236}">
                <a16:creationId xmlns:a16="http://schemas.microsoft.com/office/drawing/2014/main" id="{59A26AF1-4675-DA2F-7596-B6244F459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95" y="3844985"/>
            <a:ext cx="2743200" cy="2743200"/>
          </a:xfrm>
          <a:prstGeom prst="rect">
            <a:avLst/>
          </a:prstGeom>
        </p:spPr>
      </p:pic>
      <p:pic>
        <p:nvPicPr>
          <p:cNvPr id="14" name="Picture 13" descr="Cucumber">
            <a:extLst>
              <a:ext uri="{FF2B5EF4-FFF2-40B4-BE49-F238E27FC236}">
                <a16:creationId xmlns:a16="http://schemas.microsoft.com/office/drawing/2014/main" id="{51DB459F-911F-3880-3829-6B6B66885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8562" y="4490558"/>
            <a:ext cx="1262273" cy="1456846"/>
          </a:xfrm>
          <a:prstGeom prst="rect">
            <a:avLst/>
          </a:prstGeom>
        </p:spPr>
      </p:pic>
      <p:pic>
        <p:nvPicPr>
          <p:cNvPr id="17" name="Picture 16" descr="Datei:Docker Logo.png – Wikipedia">
            <a:extLst>
              <a:ext uri="{FF2B5EF4-FFF2-40B4-BE49-F238E27FC236}">
                <a16:creationId xmlns:a16="http://schemas.microsoft.com/office/drawing/2014/main" id="{88111D17-B665-C272-8873-AAAA4E0EE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3207" y="5099534"/>
            <a:ext cx="2127850" cy="48330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D2B98E9-BF8B-5511-BAD7-1BD2C34CF00C}"/>
              </a:ext>
            </a:extLst>
          </p:cNvPr>
          <p:cNvSpPr txBox="1"/>
          <p:nvPr/>
        </p:nvSpPr>
        <p:spPr>
          <a:xfrm rot="-600000">
            <a:off x="8683924" y="2611886"/>
            <a:ext cx="3278037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Google Drive für </a:t>
            </a:r>
            <a:r>
              <a:rPr lang="en-US" strike="sngStrike"/>
              <a:t>Arme</a:t>
            </a:r>
            <a:endParaRPr lang="en-US"/>
          </a:p>
          <a:p>
            <a:r>
              <a:rPr lang="en-US"/>
              <a:t>Google Drive für Kluge</a:t>
            </a:r>
          </a:p>
          <a:p>
            <a:r>
              <a:rPr lang="en-US"/>
              <a:t> </a:t>
            </a:r>
          </a:p>
        </p:txBody>
      </p:sp>
      <p:pic>
        <p:nvPicPr>
          <p:cNvPr id="21" name="Picture 20" descr="@istanbuljs">
            <a:extLst>
              <a:ext uri="{FF2B5EF4-FFF2-40B4-BE49-F238E27FC236}">
                <a16:creationId xmlns:a16="http://schemas.microsoft.com/office/drawing/2014/main" id="{046048ED-6686-1DEF-00E1-CB1AB95912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9198" y="4489330"/>
            <a:ext cx="1042359" cy="104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848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AAA3C8-A935-8915-1134-242F079A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291750-0A21-E54E-EBD5-FBF477D9B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57C35-4936-B387-699C-7719F8D9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Unit Tests</a:t>
            </a:r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B2DBDE98-70D3-F395-8EB4-CC14CBD3D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0BA53A-086E-06F6-2C19-22CE4B58E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/>
              <a:t>Bereits integriert: </a:t>
            </a:r>
            <a:r>
              <a:rPr lang="de-AT" sz="2200" err="1"/>
              <a:t>Vitest</a:t>
            </a:r>
            <a:endParaRPr lang="de-AT" sz="2200"/>
          </a:p>
          <a:p>
            <a:r>
              <a:rPr lang="de-AT" sz="2200" err="1"/>
              <a:t>Arrange</a:t>
            </a:r>
            <a:r>
              <a:rPr lang="de-AT" sz="2200"/>
              <a:t>, Act, </a:t>
            </a:r>
            <a:r>
              <a:rPr lang="de-AT" sz="2200" err="1"/>
              <a:t>Assert</a:t>
            </a:r>
          </a:p>
          <a:p>
            <a:r>
              <a:rPr lang="de-AT" sz="2200"/>
              <a:t>Tests für Kern-Komponenten</a:t>
            </a:r>
          </a:p>
          <a:p>
            <a:r>
              <a:rPr lang="de-AT" sz="2200" err="1"/>
              <a:t>Mocking</a:t>
            </a:r>
            <a:r>
              <a:rPr lang="de-AT" sz="2200"/>
              <a:t> für Abhängigkeiten</a:t>
            </a:r>
          </a:p>
          <a:p>
            <a:endParaRPr lang="de-AT" sz="2200"/>
          </a:p>
        </p:txBody>
      </p:sp>
      <p:pic>
        <p:nvPicPr>
          <p:cNvPr id="4" name="Grafik 3" descr="Ein Bild, das Text, Screenshot, Schrift, Display enthält.&#10;&#10;KI-generierte Inhalte können fehlerhaft sein.">
            <a:extLst>
              <a:ext uri="{FF2B5EF4-FFF2-40B4-BE49-F238E27FC236}">
                <a16:creationId xmlns:a16="http://schemas.microsoft.com/office/drawing/2014/main" id="{A21A51AD-99B7-4B47-5E9C-2EC00516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114" y="4460648"/>
            <a:ext cx="7416800" cy="2254703"/>
          </a:xfrm>
          <a:prstGeom prst="rect">
            <a:avLst/>
          </a:prstGeom>
        </p:spPr>
      </p:pic>
      <p:pic>
        <p:nvPicPr>
          <p:cNvPr id="5" name="Grafik 4" descr="Ein Bild, das Text, Screenshot, Display, Software enthält.&#10;&#10;KI-generierte Inhalte können fehlerhaft sein.">
            <a:extLst>
              <a:ext uri="{FF2B5EF4-FFF2-40B4-BE49-F238E27FC236}">
                <a16:creationId xmlns:a16="http://schemas.microsoft.com/office/drawing/2014/main" id="{AA61AFFE-A48B-2645-B517-A994DF89A4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3" r="20763" b="22695"/>
          <a:stretch>
            <a:fillRect/>
          </a:stretch>
        </p:blipFill>
        <p:spPr>
          <a:xfrm>
            <a:off x="5225141" y="1926936"/>
            <a:ext cx="5725888" cy="249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65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7E9F98-578D-9EA3-57AA-F1961AE4B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17D2866-3E1D-9EC5-9491-2E6D086CC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5629D0-D80F-F3FD-593A-145282AB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AT" sz="5400"/>
              <a:t>Test Coverage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1FA33BBA-18E6-1A32-20D4-BDAA44EB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0DBD20-53F9-DD01-671D-5688A4425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de-AT" sz="2200"/>
          </a:p>
          <a:p>
            <a:endParaRPr lang="de-AT" sz="22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97A061-A523-BF5A-C592-98089F608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981" y="1929920"/>
            <a:ext cx="9906000" cy="304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7AEBAB-00CD-3E89-124B-AD14D4FA4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0" y="2296737"/>
            <a:ext cx="9906000" cy="304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D03309-A696-E39A-0778-80E425755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51" y="2961858"/>
            <a:ext cx="10043410" cy="2565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569B96-0869-6B56-D5FA-64389903D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539" y="3284957"/>
            <a:ext cx="10828371" cy="289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297DB1-0BC1-43D2-DA9F-C04422107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695" y="3834493"/>
            <a:ext cx="10641240" cy="4372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4235DE-A486-B9E5-9A0F-FE9CA71D89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79" y="4415065"/>
            <a:ext cx="10975070" cy="45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63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5B858C-7344-5490-5851-DC0EC2D8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62F6CBC-7D85-FC79-A715-16FF08AF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F0CC8-4407-175B-807A-D82F0638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Integration Tests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C95BE29-95C3-3567-A294-93B803623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763305-8419-EF71-787E-A8D4B68C4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 dirty="0"/>
              <a:t>Eigene „Infrastruktur“ -&gt; Folder + Docker</a:t>
            </a:r>
          </a:p>
          <a:p>
            <a:r>
              <a:rPr lang="de-AT" sz="2200" dirty="0"/>
              <a:t>Zwischen Anwendung und WebDAV-Server</a:t>
            </a:r>
          </a:p>
          <a:p>
            <a:r>
              <a:rPr lang="de-AT" sz="2200" dirty="0"/>
              <a:t>Zwischen Anwendung und </a:t>
            </a:r>
            <a:r>
              <a:rPr lang="de-AT" sz="2200" dirty="0" err="1"/>
              <a:t>OpenCloud</a:t>
            </a:r>
            <a:r>
              <a:rPr lang="de-AT" sz="2200" dirty="0"/>
              <a:t>-Backend</a:t>
            </a:r>
          </a:p>
          <a:p>
            <a:endParaRPr lang="de-AT" sz="2200" dirty="0"/>
          </a:p>
        </p:txBody>
      </p:sp>
    </p:spTree>
    <p:extLst>
      <p:ext uri="{BB962C8B-B14F-4D97-AF65-F5344CB8AC3E}">
        <p14:creationId xmlns:p14="http://schemas.microsoft.com/office/powerpoint/2010/main" val="412546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949884-B9BE-40E9-C444-50319DE91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C691AB6-C143-32C2-2C6D-7AD5B083F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7F2BC4-D0CB-EC66-4B24-9B04DBD1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E2E Tests</a:t>
            </a:r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EA98E981-AC76-0E01-3B53-978FD6826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9CF09-D6D8-6165-2DF0-214716F54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/>
              <a:t>Kombination aus </a:t>
            </a:r>
            <a:r>
              <a:rPr lang="de-AT" sz="2200" err="1"/>
              <a:t>Cucumber</a:t>
            </a:r>
            <a:r>
              <a:rPr lang="de-AT" sz="2200"/>
              <a:t> und </a:t>
            </a:r>
            <a:r>
              <a:rPr lang="de-AT" sz="2200" err="1"/>
              <a:t>Playwright</a:t>
            </a:r>
          </a:p>
          <a:p>
            <a:r>
              <a:rPr lang="de-AT" sz="2200"/>
              <a:t>Triviale Fälle oft nicht abgebildet</a:t>
            </a:r>
          </a:p>
          <a:p>
            <a:endParaRPr lang="de-AT" sz="2200"/>
          </a:p>
          <a:p>
            <a:endParaRPr lang="de-AT" sz="2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BF0DB0-DE75-D0F6-EE51-5DDBDD3E9FD7}"/>
              </a:ext>
            </a:extLst>
          </p:cNvPr>
          <p:cNvSpPr txBox="1"/>
          <p:nvPr/>
        </p:nvSpPr>
        <p:spPr>
          <a:xfrm>
            <a:off x="2377057" y="3103730"/>
            <a:ext cx="7437885" cy="24929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>
                <a:latin typeface="Aptos Mono"/>
                <a:ea typeface="+mn-lt"/>
                <a:cs typeface="+mn-lt"/>
              </a:rPr>
              <a:t>  Scenario: download single resource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And "Christoph" creates the following files into personal space using API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  | </a:t>
            </a:r>
            <a:r>
              <a:rPr lang="en-US" sz="1200" err="1">
                <a:latin typeface="Aptos Mono"/>
                <a:ea typeface="+mn-lt"/>
                <a:cs typeface="+mn-lt"/>
              </a:rPr>
              <a:t>pathToFile</a:t>
            </a:r>
            <a:r>
              <a:rPr lang="en-US" sz="1200">
                <a:latin typeface="Aptos Mono"/>
                <a:ea typeface="+mn-lt"/>
                <a:cs typeface="+mn-lt"/>
              </a:rPr>
              <a:t>                      | content     |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  | file.txt                        | lorem ipsum |</a:t>
            </a:r>
            <a:endParaRPr lang="en-US" sz="1200">
              <a:latin typeface="Aptos Mono"/>
            </a:endParaRPr>
          </a:p>
          <a:p>
            <a:endParaRPr lang="en-US" sz="1200">
              <a:latin typeface="Aptos Mono"/>
            </a:endParaRPr>
          </a:p>
          <a:p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When "Christoph" logs in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And "Christoph" downloads the following resource using the context menu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  | resource       | type   |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  | file.txt       | file   |</a:t>
            </a:r>
            <a:endParaRPr lang="en-US" sz="1200">
              <a:latin typeface="Aptos Mono"/>
            </a:endParaRPr>
          </a:p>
          <a:p>
            <a:r>
              <a:rPr lang="en-US" sz="1200">
                <a:latin typeface="Aptos Mono"/>
                <a:ea typeface="+mn-lt"/>
                <a:cs typeface="+mn-lt"/>
              </a:rPr>
              <a:t>    And "Christoph" logs out</a:t>
            </a:r>
            <a:endParaRPr lang="en-US" sz="1200">
              <a:latin typeface="Aptos Mono"/>
            </a:endParaRPr>
          </a:p>
          <a:p>
            <a:pPr algn="l"/>
            <a:r>
              <a:rPr lang="en-US" sz="1200">
                <a:latin typeface="Aptos Mono"/>
              </a:rPr>
              <a:t>...</a:t>
            </a:r>
          </a:p>
          <a:p>
            <a:endParaRPr lang="en-US" sz="1200">
              <a:latin typeface="Aptos Mono"/>
            </a:endParaRPr>
          </a:p>
        </p:txBody>
      </p:sp>
    </p:spTree>
    <p:extLst>
      <p:ext uri="{BB962C8B-B14F-4D97-AF65-F5344CB8AC3E}">
        <p14:creationId xmlns:p14="http://schemas.microsoft.com/office/powerpoint/2010/main" val="90680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12A87-118A-A901-F7D2-ED23142D9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AEE8E76-DFCE-EBBC-55F0-D285884B1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EBD72B-3797-3EFF-B9F3-73F167C5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Load Tests​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86EF27B3-C29B-2173-64EF-A224FFCA2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FBD779-1DCB-D96D-6554-519922FF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 dirty="0"/>
              <a:t>k6 gemeinsam mit </a:t>
            </a:r>
            <a:r>
              <a:rPr lang="de-AT" sz="2200" dirty="0" err="1"/>
              <a:t>Grafana</a:t>
            </a:r>
            <a:r>
              <a:rPr lang="de-AT" sz="2200" dirty="0"/>
              <a:t> (Dashboard)</a:t>
            </a:r>
          </a:p>
          <a:p>
            <a:r>
              <a:rPr lang="de-AT" sz="2200" dirty="0" err="1"/>
              <a:t>Thresholds</a:t>
            </a:r>
            <a:r>
              <a:rPr lang="de-AT" sz="2200" dirty="0"/>
              <a:t> -&gt; Pass/Fail-Test</a:t>
            </a:r>
          </a:p>
          <a:p>
            <a:endParaRPr lang="de-AT" sz="2200" dirty="0"/>
          </a:p>
          <a:p>
            <a:endParaRPr lang="de-AT" sz="22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246A40D-FDB0-8E10-27DA-3DB0E2F9F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1746"/>
            <a:ext cx="7522029" cy="399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1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060A3-D78B-6067-C578-A2E53096A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30D21D9-3FBD-2393-CC13-DCF1F00E66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594D3-6C36-C237-48B3-2A9FB9933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Pipeline</a:t>
            </a:r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9896A9F-ADAF-23DE-E9D4-FCE1367F3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28D1F4-8E96-0D50-4628-B4E6E40D7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AT" sz="2200"/>
              <a:t>GitHub Actions</a:t>
            </a:r>
          </a:p>
          <a:p>
            <a:r>
              <a:rPr lang="de-AT" sz="2200"/>
              <a:t>Selbstbereitgestellter Runner</a:t>
            </a:r>
          </a:p>
          <a:p>
            <a:r>
              <a:rPr lang="de-AT" sz="2200"/>
              <a:t>Linux</a:t>
            </a:r>
          </a:p>
          <a:p>
            <a:r>
              <a:rPr lang="de-AT" sz="2200"/>
              <a:t>Jede Testart in eigenem Job</a:t>
            </a:r>
          </a:p>
          <a:p>
            <a:endParaRPr lang="de-AT" sz="2200"/>
          </a:p>
        </p:txBody>
      </p:sp>
    </p:spTree>
    <p:extLst>
      <p:ext uri="{BB962C8B-B14F-4D97-AF65-F5344CB8AC3E}">
        <p14:creationId xmlns:p14="http://schemas.microsoft.com/office/powerpoint/2010/main" val="378065681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Breitbild</PresentationFormat>
  <Paragraphs>43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Arial</vt:lpstr>
      <vt:lpstr>Larissa</vt:lpstr>
      <vt:lpstr>opencloud-eu/web</vt:lpstr>
      <vt:lpstr>Was ist OpenCloud?</vt:lpstr>
      <vt:lpstr>Unit Tests</vt:lpstr>
      <vt:lpstr>Test Coverage</vt:lpstr>
      <vt:lpstr>Integration Tests</vt:lpstr>
      <vt:lpstr>E2E Tests</vt:lpstr>
      <vt:lpstr>Load Tests​</vt:lpstr>
      <vt:lpstr>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Tischler</dc:creator>
  <cp:lastModifiedBy>Tischler Michel - s2510307091</cp:lastModifiedBy>
  <cp:revision>1</cp:revision>
  <dcterms:created xsi:type="dcterms:W3CDTF">2026-06-24T16:33:49Z</dcterms:created>
  <dcterms:modified xsi:type="dcterms:W3CDTF">2026-06-24T20:53:57Z</dcterms:modified>
</cp:coreProperties>
</file>